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[0:00-0:15] Since the last check-in the work has been almost entirely in</a:t>
            </a:r>
          </a:p>
          <a:p>
            <a:r>
              <a:t>simulation: we integrated the torsion spring, built the measurement chain to</a:t>
            </a:r>
          </a:p>
          <a:p>
            <a:r>
              <a:t>see what it does to the motors, and ran 214 runs across five phases. This is</a:t>
            </a:r>
          </a:p>
          <a:p>
            <a:r>
              <a:t>the results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[0:15-0:38] Four infrastructure changes first. Sim-time locking removed log</a:t>
            </a:r>
          </a:p>
          <a:p>
            <a:r>
              <a:t>jitter. Starting from inside the gait cycle instead of a stall removed the</a:t>
            </a:r>
          </a:p>
          <a:p>
            <a:r>
              <a:t>opening torque spike and dropped tracking error. The commanded-effort plugin</a:t>
            </a:r>
          </a:p>
          <a:p>
            <a:r>
              <a:t>matters most: we now measure what the motor is asked for, not the total joint</a:t>
            </a:r>
          </a:p>
          <a:p>
            <a:r>
              <a:t>wrench, so every reduction percentage is a real motor saving.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[0:38-0:55] 214 runs. Phase 1 baseline gait; Phase 2a the first spring sweep,</a:t>
            </a:r>
          </a:p>
          <a:p>
            <a:r>
              <a:t>111 runs; Phase 2b re-ran it mirrored after we found a symmetry bug, 91 runs,</a:t>
            </a:r>
          </a:p>
          <a:p>
            <a:r>
              <a:t>and added cost of transport; Phase 3 was two speed levers. Everything from 2a</a:t>
            </a:r>
          </a:p>
          <a:p>
            <a:r>
              <a:t>on has commanded-effort logging, so 2a and 2b are directly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[0:55-1:22] The spring model is one line: motor torque equals required torque</a:t>
            </a:r>
          </a:p>
          <a:p>
            <a:r>
              <a:t>minus spring torque. Two parameters, so we swept both - 111 runs. Best cell</a:t>
            </a:r>
          </a:p>
          <a:p>
            <a:r>
              <a:t>takes 34% off mean knee effort, 0.2345 down to 0.1548 newton-metres. But the</a:t>
            </a:r>
          </a:p>
          <a:p>
            <a:r>
              <a:t>top five all cluster at zero or minus five degrees, and the far side of the</a:t>
            </a:r>
          </a:p>
          <a:p>
            <a:r>
              <a:t>grid collapses to minus 89%. Something was wrong with how we applied the rest</a:t>
            </a:r>
          </a:p>
          <a:p>
            <a:r>
              <a:t>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[1:22-1:52] The right knees stand at plus 37 and plus 43 degrees, the left at</a:t>
            </a:r>
          </a:p>
          <a:p>
            <a:r>
              <a:t>minus 38 and minus 41, with holding torques of opposite sign. One shared rest</a:t>
            </a:r>
          </a:p>
          <a:p>
            <a:r>
              <a:t>angle can only help both sides at zero. Away from zero the right knees get</a:t>
            </a:r>
          </a:p>
          <a:p>
            <a:r>
              <a:t>over-assisted - correct direction, too strong, so the motor pushes back - and</a:t>
            </a:r>
          </a:p>
          <a:p>
            <a:r>
              <a:t>the left knees get assist in the wrong direction, where no stiffness helps. 51</a:t>
            </a:r>
          </a:p>
          <a:p>
            <a:r>
              <a:t>of 440 knee-cells wrong-signed. The fix: give each side the sign it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[1:52-2:14] Re-running mirrored: 34.4% versus 34.0%. Almost identical, and that</a:t>
            </a:r>
          </a:p>
          <a:p>
            <a:r>
              <a:t>is the honest result. Mirroring did not buy a bigger number - it bought a</a:t>
            </a:r>
          </a:p>
          <a:p>
            <a:r>
              <a:t>sweep where all 90 cells are interpretable instead of an eighth being broken,</a:t>
            </a:r>
          </a:p>
          <a:p>
            <a:r>
              <a:t>and per-knee spread at the optimum drops from 6.1 points to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[2:14-2:45] The most useful structural result. Assist torque is stiffness times</a:t>
            </a:r>
          </a:p>
          <a:p>
            <a:r>
              <a:t>angle, so the two parameters trade off - the optimum is a hyperbolic ridge, not</a:t>
            </a:r>
          </a:p>
          <a:p>
            <a:r>
              <a:t>a point. As stiffness rises the best rest angle falls, and everything from 0.15</a:t>
            </a:r>
          </a:p>
          <a:p>
            <a:r>
              <a:t>to 0.35 delivers 33.6 to 34.4 percent. So the defensible claim is not "the</a:t>
            </a:r>
          </a:p>
          <a:p>
            <a:r>
              <a:t>optimum is 0.15 and 35 degrees" - it is that a correctly sized assist of about</a:t>
            </a:r>
          </a:p>
          <a:p>
            <a:r>
              <a:t>0.25 newton-metres removes a third of knee effort, and this whole locus</a:t>
            </a:r>
          </a:p>
          <a:p>
            <a:r>
              <a:t>delivers it. Good for manufacturing tolerance.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[2:45-3:05] Why symmetry matters for hardware: at Sweep 1's optimum the four</a:t>
            </a:r>
          </a:p>
          <a:p>
            <a:r>
              <a:t>knees span 31.5 to 35.4 percent, so one spring cannot serve every leg equally.</a:t>
            </a:r>
          </a:p>
          <a:p>
            <a:r>
              <a:t>That is a 3.96 point spread; the mirrored recommendation is 1.15, tightest of</a:t>
            </a:r>
          </a:p>
          <a:p>
            <a:r>
              <a:t>all ninety cells. The residual is real, not a bug - the four legs measure</a:t>
            </a:r>
          </a:p>
          <a:p>
            <a:r>
              <a:t>slightly different holding torques.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[3:05-3:40] Cost of transport, over all twelve joints and the whole robot.</a:t>
            </a:r>
          </a:p>
          <a:p>
            <a:r>
              <a:t>Mechanical work says the spring saves only 7% - that looks like a failure, but</a:t>
            </a:r>
          </a:p>
          <a:p>
            <a:r>
              <a:t>it is an artifact: mechanical work is torque times angle change, so a motor</a:t>
            </a:r>
          </a:p>
          <a:p>
            <a:r>
              <a:t>holding a static load registers zero work while still burning current, and</a:t>
            </a:r>
          </a:p>
          <a:p>
            <a:r>
              <a:t>cancelling static holding torque is the spring's entire job. The electrical</a:t>
            </a:r>
          </a:p>
          <a:p>
            <a:r>
              <a:t>proxy, integral of torque squared, is the copper-loss surrogate - it drops</a:t>
            </a:r>
          </a:p>
          <a:p>
            <a:r>
              <a:t>34.7%, tracking the torque reduction at r equals minus 0.986. That is the</a:t>
            </a:r>
          </a:p>
          <a:p>
            <a:r>
              <a:t>efficiency number we quote. It is a proxy: joules would need the servo's torque</a:t>
            </a:r>
          </a:p>
          <a:p>
            <a:r>
              <a:t>constant and resistance.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[3:40-4:12] Two honest flags. RMS effort falls 26% while mean falls 34% - the</a:t>
            </a:r>
          </a:p>
          <a:p>
            <a:r>
              <a:t>spring cancels the constant gravity bias, not the dynamic component, so the</a:t>
            </a:r>
          </a:p>
          <a:p>
            <a:r>
              <a:t>thermal benefit is smaller than the headline. And tracking error correlates at</a:t>
            </a:r>
          </a:p>
          <a:p>
            <a:r>
              <a:t>minus 0.996 with effort, so it is the same measurement restated - not</a:t>
            </a:r>
          </a:p>
          <a:p>
            <a:r>
              <a:t>independent proof the gait survived. Saturation and displacement are the only</a:t>
            </a:r>
          </a:p>
          <a:p>
            <a:r>
              <a:t>independent checks, and both are fine. On the right: our recommended</a:t>
            </a:r>
          </a:p>
          <a:p>
            <a:r>
              <a:t>configuration is not the torque winner - it is first of ninety on electrical</a:t>
            </a:r>
          </a:p>
          <a:p>
            <a:r>
              <a:t>cost, RMS, symmetry and saturation.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[4:12-4:40] Two speed levers, both with no spring. First, replay frequency -</a:t>
            </a:r>
          </a:p>
          <a:p>
            <a:r>
              <a:t>same sixteen waypoints, faster or slower; the command log confirms the per-step</a:t>
            </a:r>
          </a:p>
          <a:p>
            <a:r>
              <a:t>jump is 2.989 degrees in all three, so only speed changed. 20 Hz costs 27% more</a:t>
            </a:r>
          </a:p>
          <a:p>
            <a:r>
              <a:t>peak torque and multiplies saturation by six and a half; 5 Hz drops saturation</a:t>
            </a:r>
          </a:p>
          <a:p>
            <a:r>
              <a:t>to a quarter. Mean effort barely moves - it is set by stance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[4:40-5:20] Second lever, resolution - same speed, more waypoints on the same</a:t>
            </a:r>
          </a:p>
          <a:p>
            <a:r>
              <a:t>curve. A trap first: at eight points the swing phase gets two samples, both</a:t>
            </a:r>
          </a:p>
          <a:p>
            <a:r>
              <a:t>endpoints, both at stance height, so the foot never lifts, it slides. Its</a:t>
            </a:r>
          </a:p>
          <a:p>
            <a:r>
              <a:t>numbers look good because it is doing less, so we excluded it - the cliff is</a:t>
            </a:r>
          </a:p>
          <a:p>
            <a:r>
              <a:t>exact at twelve points. The valid comparison is 16 versus 32, and it is the</a:t>
            </a:r>
          </a:p>
          <a:p>
            <a:r>
              <a:t>strongest result here: peak demand down 48.7%, saturation to zero, with no</a:t>
            </a:r>
          </a:p>
          <a:p>
            <a:r>
              <a:t>spring. And at matched cycle time, finer sampling halves peak torque while</a:t>
            </a:r>
          </a:p>
          <a:p>
            <a:r>
              <a:t>slower replay does nothing - slowing down only gives the controller longer to</a:t>
            </a:r>
          </a:p>
          <a:p>
            <a:r>
              <a:t>chase the same discontinuity; finer sampling removes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[5:20-6:00] What we stand behind: 34% mean knee torque, 35% electrical cost of</a:t>
            </a:r>
          </a:p>
          <a:p>
            <a:r>
              <a:t>transport, zero wrong-sign cells, 1.1 point symmetry, one-degree-of-freedom</a:t>
            </a:r>
          </a:p>
          <a:p>
            <a:r>
              <a:t>design surface. What we do not claim, before being asked: mechanical work only</a:t>
            </a:r>
          </a:p>
          <a:p>
            <a:r>
              <a:t>drops 6%, so no efficiency claim from it; the electrical figure is a proxy, not</a:t>
            </a:r>
          </a:p>
          <a:p>
            <a:r>
              <a:t>joules; tracking error is not independent evidence; and this does not justify a</a:t>
            </a:r>
          </a:p>
          <a:p>
            <a:r>
              <a:t>smaller motor, because peak demand is limited by the 10 Hz stepped setpoint.</a:t>
            </a:r>
          </a:p>
          <a:p>
            <a:r>
              <a:t>Our 34% sits inside the published 17-to-50% range, with the simplest hardware</a:t>
            </a:r>
          </a:p>
          <a:p>
            <a:r>
              <a:t>in it. Next: repeats at the ridge, extend the grid, raise trajectory</a:t>
            </a:r>
          </a:p>
          <a:p>
            <a:r>
              <a:t>resolution, and get the motor constants for real joules.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417320"/>
            <a:ext cx="12191695" cy="5440680"/>
          </a:xfrm>
          <a:custGeom>
            <a:avLst/>
            <a:gdLst/>
            <a:ahLst/>
            <a:cxnLst/>
            <a:rect l="l" t="t" r="r" b="b"/>
            <a:pathLst>
              <a:path w="12191695" h="5440680">
                <a:moveTo>
                  <a:pt x="0" y="5440680"/>
                </a:moveTo>
                <a:lnTo>
                  <a:pt x="0" y="0"/>
                </a:lnTo>
                <a:lnTo>
                  <a:pt x="12191695" y="5440680"/>
                </a:lnTo>
                <a:close/>
              </a:path>
            </a:pathLst>
          </a:cu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7818120" y="384048"/>
            <a:ext cx="566928" cy="566928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0716768" y="1170432"/>
            <a:ext cx="640080" cy="64008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4-Point Star 5"/>
          <p:cNvSpPr/>
          <p:nvPr/>
        </p:nvSpPr>
        <p:spPr>
          <a:xfrm>
            <a:off x="5074920" y="5925312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4-Point Star 6"/>
          <p:cNvSpPr/>
          <p:nvPr/>
        </p:nvSpPr>
        <p:spPr>
          <a:xfrm>
            <a:off x="1481328" y="1051560"/>
            <a:ext cx="310896" cy="310896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48840" y="1207008"/>
            <a:ext cx="7909560" cy="4041648"/>
          </a:xfrm>
          <a:prstGeom prst="roundRect">
            <a:avLst>
              <a:gd name="adj" fmla="val 5500"/>
            </a:avLst>
          </a:prstGeom>
          <a:solidFill>
            <a:srgbClr val="DD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572768"/>
            <a:ext cx="7178040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110666"/>
                </a:solidFill>
                <a:latin typeface="Georgia"/>
              </a:rPr>
              <a:t>Passive Gravity Compensation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B1A8C"/>
                </a:solidFill>
                <a:latin typeface="Georgia"/>
              </a:rPr>
              <a:t>for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110666"/>
                </a:solidFill>
                <a:latin typeface="Georgia"/>
              </a:rPr>
              <a:t>Graceful Degradation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B1A8C"/>
                </a:solidFill>
                <a:latin typeface="Georgia"/>
              </a:rPr>
              <a:t>of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3200" b="1" i="0">
                <a:solidFill>
                  <a:srgbClr val="110666"/>
                </a:solidFill>
                <a:latin typeface="Georgia"/>
              </a:rPr>
              <a:t>Hexapod Robots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255C"/>
                </a:solidFill>
                <a:latin typeface="Trebuchet MS"/>
              </a:rPr>
              <a:t>STRP Check-In 2   |   Simulation &amp; Experimental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870448"/>
            <a:ext cx="3657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10666"/>
                </a:solidFill>
                <a:latin typeface="Trebuchet MS"/>
              </a:rPr>
              <a:t>PRINCIPLE INVESTIGATOR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Trebuchet MS"/>
              </a:rPr>
              <a:t>TABSHEER ALI ASKARI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870448"/>
            <a:ext cx="5257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10666"/>
                </a:solidFill>
                <a:latin typeface="Trebuchet MS"/>
              </a:rPr>
              <a:t>PRESENTED BY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Trebuchet MS"/>
              </a:rPr>
              <a:t>ABEER ANSARI     MUBASHIR BAIG     RAUF ABDULLAH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Since Check-In 1 — Cleaner Measurements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05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F"/>
                </a:solidFill>
                <a:latin typeface="Trebuchet MS"/>
              </a:rPr>
              <a:t>Four changes to the simulator before any spring result could be trusted.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2 /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426464"/>
            <a:ext cx="6720840" cy="3822191"/>
          </a:xfrm>
          <a:prstGeom prst="roundRect">
            <a:avLst>
              <a:gd name="adj" fmla="val 5000"/>
            </a:avLst>
          </a:prstGeom>
          <a:solidFill>
            <a:srgbClr val="DD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1645920"/>
            <a:ext cx="6172200" cy="34107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350" b="1" i="0">
                <a:solidFill>
                  <a:srgbClr val="110666"/>
                </a:solidFill>
                <a:latin typeface="Trebuchet MS"/>
              </a:rPr>
              <a:t>Locked to simulated time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55C"/>
                </a:solidFill>
                <a:latin typeface="Trebuchet MS"/>
              </a:rPr>
              <a:t>The gait loop and the torque logger both run off /clock, so command and measurement are sampled on the same timebase — no wall-clock jitter in the logs.</a:t>
            </a:r>
          </a:p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200"/>
              </a:spcAft>
            </a:pPr>
            <a:r>
              <a:rPr sz="135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350" b="1" i="0">
                <a:solidFill>
                  <a:srgbClr val="110666"/>
                </a:solidFill>
                <a:latin typeface="Trebuchet MS"/>
              </a:rPr>
              <a:t>Removed the start-up stall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55C"/>
                </a:solidFill>
                <a:latin typeface="Trebuchet MS"/>
              </a:rPr>
              <a:t>The run now begins from a pose already inside the gait cycle instead of a dead stop. That removed the start-up transient: smaller opening torque peak, less noise in the first cycle, and lower tracking error, because the controller never has to catch up from rest.</a:t>
            </a:r>
          </a:p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200"/>
              </a:spcAft>
            </a:pPr>
            <a:r>
              <a:rPr sz="135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350" b="1" i="0">
                <a:solidFill>
                  <a:srgbClr val="110666"/>
                </a:solidFill>
                <a:latin typeface="Trebuchet MS"/>
              </a:rPr>
              <a:t>Commanded-effort plugin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55C"/>
                </a:solidFill>
                <a:latin typeface="Trebuchet MS"/>
              </a:rPr>
              <a:t>We log the effort the motor is actually commanded to produce, per joint — not the total joint wrench. So a "34% reduction" is 34% off what the motor sees, which is the number that matters for sizing and for battery life.</a:t>
            </a:r>
          </a:p>
          <a:p>
            <a:pPr algn="l">
              <a:lnSpc>
                <a:spcPct val="100000"/>
              </a:lnSpc>
              <a:spcBef>
                <a:spcPts val="900"/>
              </a:spcBef>
              <a:spcAft>
                <a:spcPts val="200"/>
              </a:spcAft>
            </a:pPr>
            <a:r>
              <a:rPr sz="135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350" b="1" i="0">
                <a:solidFill>
                  <a:srgbClr val="110666"/>
                </a:solidFill>
                <a:latin typeface="Trebuchet MS"/>
              </a:rPr>
              <a:t>Effort-vs-angle + recorded video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55C"/>
                </a:solidFill>
                <a:latin typeface="Trebuchet MS"/>
              </a:rPr>
              <a:t>All 12 joints logged at 50 Hz against joint angle, plus a video of every run. A torque peak can now be traced to a timestamp, a joint angle, and a body pose.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426464"/>
            <a:ext cx="3986784" cy="3822191"/>
          </a:xfrm>
          <a:prstGeom prst="roundRect">
            <a:avLst>
              <a:gd name="adj" fmla="val 5000"/>
            </a:avLst>
          </a:pr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7" y="162763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EFEF"/>
                </a:solidFill>
                <a:latin typeface="Trebuchet MS"/>
              </a:rPr>
              <a:t>SIMULATION SETUP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882127" y="1993392"/>
          <a:ext cx="3520439" cy="2958083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498059"/>
                <a:gridCol w="2022380"/>
              </a:tblGrid>
              <a:tr h="361187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Parameter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Value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Platform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THex Quadruped, 4 × 3 DoF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Mass m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1.39847 kg (13 links)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Actuator limit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±0.9414 N·m / joint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Control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Position PID, 10 Hz gait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Logging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50 Hz, all 12 joints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Simulator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Gazebo Harmonic 8.14 (DART)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Middleware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ROS 2 Humble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Gravity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9.8 m/s² (CoT); 9.78 IMU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66928" y="5449824"/>
            <a:ext cx="11055096" cy="822960"/>
          </a:xfrm>
          <a:prstGeom prst="roundRect">
            <a:avLst>
              <a:gd name="adj" fmla="val 10000"/>
            </a:avLst>
          </a:pr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577840"/>
            <a:ext cx="1050645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D25E"/>
                </a:solidFill>
                <a:latin typeface="Trebuchet MS"/>
              </a:rPr>
              <a:t>▸  </a:t>
            </a:r>
            <a:r>
              <a:rPr sz="1150" b="0" i="0">
                <a:solidFill>
                  <a:srgbClr val="F5EFEF"/>
                </a:solidFill>
                <a:latin typeface="Trebuchet MS"/>
              </a:rPr>
              <a:t>Net effect: every number in the rest of this deck is </a:t>
            </a:r>
            <a:r>
              <a:rPr sz="1150" b="1" i="0">
                <a:solidFill>
                  <a:srgbClr val="F5EFEF"/>
                </a:solidFill>
                <a:latin typeface="Trebuchet MS"/>
              </a:rPr>
              <a:t>motor-commanded effort</a:t>
            </a:r>
            <a:r>
              <a:rPr sz="1150" b="0" i="0">
                <a:solidFill>
                  <a:srgbClr val="F5EFEF"/>
                </a:solidFill>
                <a:latin typeface="Trebuchet MS"/>
              </a:rPr>
              <a:t>, on a jitter-free timebase, with no start-up transient contaminating the first gait 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Experiment Roadmap — 214 Simulation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05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F"/>
                </a:solidFill>
                <a:latin typeface="Trebuchet MS"/>
              </a:rPr>
              <a:t>Five phases, 12 July → 30 July. Each phase fixed a measurement problem found in the one before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3 /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86551" y="1362456"/>
            <a:ext cx="7815848" cy="2002536"/>
          </a:xfrm>
          <a:prstGeom prst="roundRect">
            <a:avLst>
              <a:gd name="adj" fmla="val 35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559" y="1426464"/>
            <a:ext cx="7687832" cy="1874519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3575303"/>
          <a:ext cx="11055092" cy="259689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744948"/>
                <a:gridCol w="2138969"/>
                <a:gridCol w="619175"/>
                <a:gridCol w="5741444"/>
                <a:gridCol w="810556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5EFEF"/>
                          </a:solidFill>
                          <a:latin typeface="Trebuchet MS"/>
                        </a:rPr>
                        <a:t>Phase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5EFEF"/>
                          </a:solidFill>
                          <a:latin typeface="Trebuchet MS"/>
                        </a:rPr>
                        <a:t>Directory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5EFEF"/>
                          </a:solidFill>
                          <a:latin typeface="Trebuchet MS"/>
                        </a:rPr>
                        <a:t>Runs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5EFEF"/>
                          </a:solidFill>
                          <a:latin typeface="Trebuchet MS"/>
                        </a:rPr>
                        <a:t>What it added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5EFEF"/>
                          </a:solidFill>
                          <a:latin typeface="Trebuchet MS"/>
                        </a:rPr>
                        <a:t>Date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 — Baseline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experiment_old/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6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First working gait; no commanded-effort logging, no settle phase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12 Jul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2a — Shared sweep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experiment_before symeetry/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111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Spring integrated; commanded-effort logging; kx × θ₀ grid, one θ₀ for all knees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27 Jul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2b — Mirrored sweep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experiment_new/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91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±θ₀ mirrored per leg; body state, forward displacement, cost of transport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30 Jul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3a — Speed (frequency)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experiment_speed_freq/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target_freq = 5 / 10 / 20 Hz — same trajectory, different replay speed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30 Jul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3b — Speed (resolution)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experiment_speed_steps/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NUM_DATA_POINTS = 8 / 16 / 32 — same speed, different waypoint count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30 Jul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/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Total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214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/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/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Sweep 1 — One Shared Rest Angle (111 runs)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05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F"/>
                </a:solidFill>
                <a:latin typeface="Trebuchet MS"/>
              </a:rPr>
              <a:t>A linear torsion spring in parallel with each knee:  τ_motor = τ_required − kx · (θ₀ − θ).  Two knobs — stiffness kx, rest angle θ₀.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4 /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426464"/>
            <a:ext cx="5532120" cy="3950208"/>
          </a:xfrm>
          <a:prstGeom prst="roundRect">
            <a:avLst>
              <a:gd name="adj" fmla="val 5000"/>
            </a:avLst>
          </a:prstGeom>
          <a:solidFill>
            <a:srgbClr val="DD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64592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150" b="0" i="0">
                <a:solidFill>
                  <a:srgbClr val="16255C"/>
                </a:solidFill>
                <a:latin typeface="Trebuchet MS"/>
              </a:rPr>
              <a:t>Grid: kx = 0.05 → 0.50 N·m/rad (10 values) × θ₀ = 0° → −50° (11 values) = 110 spring cells + 1 baseline.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150" b="1" i="0">
                <a:solidFill>
                  <a:srgbClr val="110666"/>
                </a:solidFill>
                <a:latin typeface="Trebuchet MS"/>
              </a:rPr>
              <a:t>The same θ₀ was applied to all four knees.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16352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10666"/>
                </a:solidFill>
                <a:latin typeface="Trebuchet MS"/>
              </a:rPr>
              <a:t>TOP 5 OF 110 CELLS   ·   baseline mean knee effort 0.2345 N·m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3163824"/>
          <a:ext cx="5029196" cy="1929383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85118"/>
                <a:gridCol w="679621"/>
                <a:gridCol w="679621"/>
                <a:gridCol w="1189337"/>
                <a:gridCol w="1076067"/>
                <a:gridCol w="1019432"/>
              </a:tblGrid>
              <a:tr h="352043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EFEF"/>
                          </a:solidFill>
                          <a:latin typeface="Trebuchet MS"/>
                        </a:rPr>
                        <a:t>#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EFEF"/>
                          </a:solidFill>
                          <a:latin typeface="Trebuchet MS"/>
                        </a:rPr>
                        <a:t>kx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EFEF"/>
                          </a:solidFill>
                          <a:latin typeface="Trebuchet MS"/>
                        </a:rPr>
                        <a:t>θ₀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EFEF"/>
                          </a:solidFill>
                          <a:latin typeface="Trebuchet MS"/>
                        </a:rPr>
                        <a:t>Mean effort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EFEF"/>
                          </a:solidFill>
                          <a:latin typeface="Trebuchet MS"/>
                        </a:rPr>
                        <a:t>Reduction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EFEF"/>
                          </a:solidFill>
                          <a:latin typeface="Trebuchet MS"/>
                        </a:rPr>
                        <a:t>Track err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10666"/>
                          </a:solidFill>
                          <a:latin typeface="Trebuchet MS"/>
                        </a:rPr>
                        <a:t>1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10666"/>
                          </a:solidFill>
                          <a:latin typeface="Trebuchet MS"/>
                        </a:rPr>
                        <a:t>0.30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10666"/>
                          </a:solidFill>
                          <a:latin typeface="Trebuchet MS"/>
                        </a:rPr>
                        <a:t>0°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10666"/>
                          </a:solidFill>
                          <a:latin typeface="Trebuchet MS"/>
                        </a:rPr>
                        <a:t>0.1548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10666"/>
                          </a:solidFill>
                          <a:latin typeface="Trebuchet MS"/>
                        </a:rPr>
                        <a:t>34.0%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10666"/>
                          </a:solidFill>
                          <a:latin typeface="Trebuchet MS"/>
                        </a:rPr>
                        <a:t>3.51°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2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0.35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0°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0.1556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33.6%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3.50°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3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0.30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−5°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0.1571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33.0%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3.41°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4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0.35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−5°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0.1595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32.0%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3.48°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5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0.25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0°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0.1599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31.8%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55C"/>
                          </a:solidFill>
                          <a:latin typeface="Trebuchet MS"/>
                        </a:rPr>
                        <a:t>3.53°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382512" y="2120135"/>
            <a:ext cx="5303520" cy="2562864"/>
          </a:xfrm>
          <a:prstGeom prst="roundRect">
            <a:avLst>
              <a:gd name="adj" fmla="val 35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2a_gr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84143"/>
            <a:ext cx="5175504" cy="243484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66928" y="5559552"/>
            <a:ext cx="11055096" cy="731520"/>
          </a:xfrm>
          <a:prstGeom prst="roundRect">
            <a:avLst>
              <a:gd name="adj" fmla="val 11000"/>
            </a:avLst>
          </a:pr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5669280"/>
            <a:ext cx="1050645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150" b="1" i="0">
                <a:solidFill>
                  <a:srgbClr val="FFD25E"/>
                </a:solidFill>
                <a:latin typeface="Trebuchet MS"/>
              </a:rPr>
              <a:t>Every one of the top five sits at θ₀ = 0° or −5°, and the far side of the grid collapses to −89%. That is not a coincidence — it is the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The Symmetry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05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F"/>
                </a:solidFill>
                <a:latin typeface="Trebuchet MS"/>
              </a:rPr>
              <a:t>The legs are mirrored, but we were giving all four knees the same rest angle — so Sweep 1 was handicapped before it started.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5 /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426464"/>
            <a:ext cx="5074920" cy="3310128"/>
          </a:xfrm>
          <a:prstGeom prst="roundRect">
            <a:avLst>
              <a:gd name="adj" fmla="val 5000"/>
            </a:avLst>
          </a:prstGeom>
          <a:solidFill>
            <a:srgbClr val="DD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1645920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0666"/>
                </a:solidFill>
                <a:latin typeface="Trebuchet MS"/>
              </a:rPr>
              <a:t>MEASURED STANCE OPERATING POINT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13816" y="1993392"/>
          <a:ext cx="4572000" cy="147675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685800"/>
                <a:gridCol w="1543050"/>
                <a:gridCol w="1543050"/>
                <a:gridCol w="800100"/>
              </a:tblGrid>
              <a:tr h="32461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5EFEF"/>
                          </a:solidFill>
                          <a:latin typeface="Trebuchet MS"/>
                        </a:rPr>
                        <a:t>Knee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5EFEF"/>
                          </a:solidFill>
                          <a:latin typeface="Trebuchet MS"/>
                        </a:rPr>
                        <a:t>Stance angle q_op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5EFEF"/>
                          </a:solidFill>
                          <a:latin typeface="Trebuchet MS"/>
                        </a:rPr>
                        <a:t>Holding torque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5EFEF"/>
                          </a:solidFill>
                          <a:latin typeface="Trebuchet MS"/>
                        </a:rPr>
                        <a:t>Side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FR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+37.2°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−0.246 N·m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right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BR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+42.9°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−0.248 N·m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right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FL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−38.4°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+0.258 N·m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left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BL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−40.8°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+0.264 N·m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6255C"/>
                          </a:solidFill>
                          <a:latin typeface="Trebuchet MS"/>
                        </a:rPr>
                        <a:t>left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13816" y="3529584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6255C"/>
                </a:solidFill>
                <a:latin typeface="Trebuchet MS"/>
              </a:rPr>
              <a:t>Left and right knees sit at opposite angles and need holding torques of opposite sign. A single shared θ₀ can only serve both sides at θ₀ = 0°, where the lever arm is just −q_op — which happens to carry the right sign for each side.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10666"/>
                </a:solidFill>
                <a:latin typeface="Trebuchet MS"/>
              </a:rPr>
              <a:t>Move away from 0° and the two sides fail in opposite ways.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56048"/>
            <a:ext cx="5074920" cy="1335024"/>
          </a:xfrm>
          <a:prstGeom prst="roundRect">
            <a:avLst>
              <a:gd name="adj" fmla="val 10000"/>
            </a:avLst>
          </a:pr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02352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D25E"/>
                </a:solidFill>
                <a:latin typeface="Trebuchet MS"/>
              </a:rPr>
              <a:t>▸  </a:t>
            </a:r>
            <a:r>
              <a:rPr sz="1100" b="0" i="0">
                <a:solidFill>
                  <a:srgbClr val="F5EFEF"/>
                </a:solidFill>
                <a:latin typeface="Trebuchet MS"/>
              </a:rPr>
              <a:t>So Sweep 1's "optimum" at θ₀ = 0° was never a discovered optimum — it was the </a:t>
            </a:r>
            <a:r>
              <a:rPr sz="1100" b="1" i="0">
                <a:solidFill>
                  <a:srgbClr val="F5EFEF"/>
                </a:solidFill>
                <a:latin typeface="Trebuchet MS"/>
              </a:rPr>
              <a:t>only rest angle a shared-θ₀ design could use</a:t>
            </a:r>
            <a:r>
              <a:rPr sz="1100" b="0" i="0">
                <a:solidFill>
                  <a:srgbClr val="F5EFEF"/>
                </a:solidFill>
                <a:latin typeface="Trebuchet MS"/>
              </a:rPr>
              <a:t>. The sweep was answering a question we had accidentally constrained.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0448" y="1426464"/>
            <a:ext cx="5751576" cy="4864608"/>
          </a:xfrm>
          <a:prstGeom prst="roundRect">
            <a:avLst>
              <a:gd name="adj" fmla="val 5000"/>
            </a:avLst>
          </a:pr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627632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EFEF"/>
                </a:solidFill>
                <a:latin typeface="Trebuchet MS"/>
              </a:rPr>
              <a:t>TWO DISTINCT FAILURE MODES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126480" y="1975104"/>
          <a:ext cx="5257798" cy="186537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474149"/>
                <a:gridCol w="1818117"/>
                <a:gridCol w="19655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What the spring does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What the motor must do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Result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Lifts a little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Carries the rest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Better than nothing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Lifts exactly right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Carries nothing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Best case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Lifts too hard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Pushes back down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Over-assist</a:t>
                      </a:r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 — effort climbs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Pulls the wrong way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Carries load </a:t>
                      </a:r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and</a:t>
                      </a:r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 fights spring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Wrong sign</a:t>
                      </a:r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 — always worse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26480" y="4023360"/>
            <a:ext cx="5257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F5EFEF"/>
                </a:solidFill>
                <a:latin typeface="Trebuchet MS"/>
              </a:rPr>
              <a:t>Right knees get over-assisted; left knees get wrong-signed assist, where no stiffness can help.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100" b="1" i="0">
                <a:solidFill>
                  <a:srgbClr val="FFD25E"/>
                </a:solidFill>
                <a:latin typeface="Trebuchet MS"/>
              </a:rPr>
              <a:t>50 of 440 knee-cells (11.4%) were wrong-signed — roughly an eighth of the sweep was uninterpretable.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FD25E"/>
                </a:solidFill>
                <a:latin typeface="Trebuchet MS"/>
              </a:rPr>
              <a:t>▸  </a:t>
            </a:r>
            <a:r>
              <a:rPr sz="1050" b="0" i="0">
                <a:solidFill>
                  <a:srgbClr val="F5EFEF"/>
                </a:solidFill>
                <a:latin typeface="Trebuchet MS"/>
              </a:rPr>
              <a:t>A single rule — harmful when the assist ratio kx(θ₀−q_op)/HOLD is below 0% or above 200% — predicts 92.7% of all 440 knee-cells with zero false positives.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100" b="1" i="0">
                <a:solidFill>
                  <a:srgbClr val="FFD25E"/>
                </a:solidFill>
                <a:latin typeface="Trebuchet MS"/>
              </a:rPr>
              <a:t>Fix: mirror the sign per side.  Right knees θ₀ = −|θ₀|,  left knees θ₀ = +|θ₀|.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Sweep 2 — Mirrored Rest Angle (91 runs)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05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F"/>
                </a:solidFill>
                <a:latin typeface="Trebuchet MS"/>
              </a:rPr>
              <a:t>Same spring, same gait, sign of θ₀ matched to each leg: kx = 0.05→0.45 (9) × |θ₀| = 0°→45° (10) = 90 cells +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6 /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89745" y="1362456"/>
            <a:ext cx="5609461" cy="3072384"/>
          </a:xfrm>
          <a:prstGeom prst="roundRect">
            <a:avLst>
              <a:gd name="adj" fmla="val 35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ross_swe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753" y="1426464"/>
            <a:ext cx="5481445" cy="2944368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4645152"/>
          <a:ext cx="5989320" cy="181965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148840"/>
                <a:gridCol w="1417320"/>
                <a:gridCol w="1463040"/>
                <a:gridCol w="960120"/>
              </a:tblGrid>
              <a:tr h="33375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Metric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Sweep 1 — shared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Sweep 2 — mirrored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Change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Best torque reduction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34.0%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34.39%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+0.4 pts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Wrong-sign cells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51 / 440  (11.6%)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0 / 360  (0%)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eliminated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Spread at own optimum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3.96 pts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2.71 pts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1.5× tighter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Spread at recommended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1.15 pts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3.4× tighter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kx=0.30 / θ₀=0° regression check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34.0%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33.7%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within noise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720840" y="4645152"/>
            <a:ext cx="4901184" cy="1517904"/>
          </a:xfrm>
          <a:prstGeom prst="roundRect">
            <a:avLst>
              <a:gd name="adj" fmla="val 6000"/>
            </a:avLst>
          </a:pr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791456"/>
            <a:ext cx="4434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D25E"/>
                </a:solidFill>
                <a:latin typeface="Trebuchet MS"/>
              </a:rPr>
              <a:t>The headline number barely moved — and that is the point.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EFEF"/>
                </a:solidFill>
                <a:latin typeface="Trebuchet MS"/>
              </a:rPr>
              <a:t>Mirroring did not buy us a bigger reduction. It bought us a sweep where all 90 cells are physically interpretable instead of an eighth being broken, and where the recommended setting helps all four knees equally.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A Ridge, Not a Peak — One Effective DOF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05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F"/>
                </a:solidFill>
                <a:latin typeface="Trebuchet MS"/>
              </a:rPr>
              <a:t>Assist torque is kx · (|θ₀| + |q_op|); the two parameters multiply, so the optimum is a hyperbola.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7 /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62818"/>
            <a:ext cx="5020055" cy="2539171"/>
          </a:xfrm>
          <a:prstGeom prst="roundRect">
            <a:avLst>
              <a:gd name="adj" fmla="val 35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2b_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26826"/>
            <a:ext cx="4892040" cy="24111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0720" y="1426464"/>
            <a:ext cx="5861304" cy="361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FD25E"/>
                </a:solidFill>
                <a:latin typeface="Trebuchet MS"/>
              </a:rPr>
              <a:t>▸  </a:t>
            </a:r>
            <a:r>
              <a:rPr sz="1200" b="0" i="0">
                <a:solidFill>
                  <a:srgbClr val="F5EFEF"/>
                </a:solidFill>
                <a:latin typeface="Trebuchet MS"/>
              </a:rPr>
              <a:t>Best cell: kx = 0.15 N·m/rad, |θ₀| = ±35° → </a:t>
            </a:r>
            <a:r>
              <a:rPr sz="1200" b="1" i="0">
                <a:solidFill>
                  <a:srgbClr val="F5EFEF"/>
                </a:solidFill>
                <a:latin typeface="Trebuchet MS"/>
              </a:rPr>
              <a:t>34.39%</a:t>
            </a:r>
            <a:r>
              <a:rPr sz="1200" b="0" i="0">
                <a:solidFill>
                  <a:srgbClr val="F5EFEF"/>
                </a:solidFill>
                <a:latin typeface="Trebuchet MS"/>
              </a:rPr>
              <a:t> reduction (0.2352 → 0.1543 N·m).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FD25E"/>
                </a:solidFill>
                <a:latin typeface="Trebuchet MS"/>
              </a:rPr>
              <a:t>▸  </a:t>
            </a:r>
            <a:r>
              <a:rPr sz="1200" b="0" i="0">
                <a:solidFill>
                  <a:srgbClr val="F5EFEF"/>
                </a:solidFill>
                <a:latin typeface="Trebuchet MS"/>
              </a:rPr>
              <a:t>Five very different parameter pairs all land within 0.8 points of each other. The design has </a:t>
            </a:r>
            <a:r>
              <a:rPr sz="1200" b="1" i="0">
                <a:solidFill>
                  <a:srgbClr val="F5EFEF"/>
                </a:solidFill>
                <a:latin typeface="Trebuchet MS"/>
              </a:rPr>
              <a:t>one effective degree of freedom, not two</a:t>
            </a:r>
            <a:r>
              <a:rPr sz="1200" b="0" i="0">
                <a:solidFill>
                  <a:srgbClr val="F5EFEF"/>
                </a:solidFill>
                <a:latin typeface="Trebuchet MS"/>
              </a:rPr>
              <a:t> — the spring only has to deliver about 0.25 N·m of assist; how that is split between stiffness and preload is a manufacturing convenience.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FD25E"/>
                </a:solidFill>
                <a:latin typeface="Trebuchet MS"/>
              </a:rPr>
              <a:t>▸  </a:t>
            </a:r>
            <a:r>
              <a:rPr sz="1200" b="0" i="0">
                <a:solidFill>
                  <a:srgbClr val="F5EFEF"/>
                </a:solidFill>
                <a:latin typeface="Trebuchet MS"/>
              </a:rPr>
              <a:t>Over-assist is the failure mode at the bottom-right: correctly signed spring, too strong, so the motor starts fighting it — down to −101% at kx=0.45 / ±45°. Interpretable, not broken.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150" b="0" i="0">
                <a:solidFill>
                  <a:srgbClr val="FFD25E"/>
                </a:solidFill>
                <a:latin typeface="Trebuchet MS"/>
              </a:rPr>
              <a:t>Caveat we have to state: the ridge exits the grid at both ends. Below kx = 0.10 the best |θ₀| is 45°, the grid edge — that branch is unmapped.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66928" y="5285232"/>
          <a:ext cx="11055089" cy="90068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0017"/>
                <a:gridCol w="1005008"/>
                <a:gridCol w="1005008"/>
                <a:gridCol w="1005008"/>
                <a:gridCol w="1005008"/>
                <a:gridCol w="1005008"/>
                <a:gridCol w="1005008"/>
                <a:gridCol w="1005008"/>
                <a:gridCol w="1005008"/>
                <a:gridCol w="1005008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kx (N·m/rad)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0.05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0.10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0.15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0.20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0.25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0.30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0.35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0.40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0.45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Best |θ₀|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±45°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±45°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±35°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±20°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±10°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±5°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±0°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±0°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±0°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Reduction at that cell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16.6%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31.2%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34.4%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34.3%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34.0%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33.7%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33.6%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31.0%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27.4%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Per-Knee Symmetry — What Mirroring Bought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05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F"/>
                </a:solidFill>
                <a:latin typeface="Trebuchet MS"/>
              </a:rPr>
              <a:t>Spread = best knee minus worst knee, in percentage points of torque reduction.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8 /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51934"/>
            <a:ext cx="5266944" cy="2195178"/>
          </a:xfrm>
          <a:prstGeom prst="roundRect">
            <a:avLst>
              <a:gd name="adj" fmla="val 35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ross_asym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15942"/>
            <a:ext cx="5138928" cy="206716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66928" y="4846320"/>
            <a:ext cx="5138928" cy="1444752"/>
          </a:xfrm>
          <a:prstGeom prst="roundRect">
            <a:avLst>
              <a:gd name="adj" fmla="val 10000"/>
            </a:avLst>
          </a:pr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992624"/>
            <a:ext cx="462686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D25E"/>
                </a:solidFill>
                <a:latin typeface="Trebuchet MS"/>
              </a:rPr>
              <a:t>▸  </a:t>
            </a:r>
            <a:r>
              <a:rPr sz="1100" b="0" i="0">
                <a:solidFill>
                  <a:srgbClr val="F5EFEF"/>
                </a:solidFill>
                <a:latin typeface="Trebuchet MS"/>
              </a:rPr>
              <a:t>Why this matters for hardware: at Sweep 1's optimum the knees span 31.5–35.4%, so </a:t>
            </a:r>
            <a:r>
              <a:rPr sz="1100" b="1" i="0">
                <a:solidFill>
                  <a:srgbClr val="F5EFEF"/>
                </a:solidFill>
                <a:latin typeface="Trebuchet MS"/>
              </a:rPr>
              <a:t>one spring cannot serve every leg equally</a:t>
            </a:r>
            <a:r>
              <a:rPr sz="1100" b="0" i="0">
                <a:solidFill>
                  <a:srgbClr val="F5EFEF"/>
                </a:solidFill>
                <a:latin typeface="Trebuchet MS"/>
              </a:rPr>
              <a:t>. At 1.15 points, it can.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897880" y="1627632"/>
          <a:ext cx="5724142" cy="186537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09742"/>
                <a:gridCol w="598477"/>
                <a:gridCol w="598477"/>
                <a:gridCol w="598477"/>
                <a:gridCol w="598477"/>
                <a:gridCol w="8204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Configuration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FR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BR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BL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FL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Spread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Sweep 1 optimum  (0.30, 0°)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33.6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35.2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35.4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31.5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3.96 pts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Sweep 2 recommended  (0.20, ±15°)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33.9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34.5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34.6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33.4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1.1 pts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Sweep 2 torque optimum  (0.15, ±35°)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34.3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34.6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35.6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32.9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2.7 pts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Over-assist corner  (0.45, ±45°)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−99.5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−97.9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−95.3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−110.9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15.6 pts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897880" y="3575304"/>
            <a:ext cx="5724144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F5EFEF"/>
                </a:solidFill>
                <a:latin typeface="Trebuchet MS"/>
              </a:rPr>
              <a:t>Across the whole grid the spread runs from 1.1 to 15.6 points, median 8.9. The recommended cell is the </a:t>
            </a:r>
            <a:r>
              <a:rPr sz="1100" b="1" i="0">
                <a:solidFill>
                  <a:srgbClr val="F5EFEF"/>
                </a:solidFill>
                <a:latin typeface="Trebuchet MS"/>
              </a:rPr>
              <a:t>most bilaterally symmetric of all 90</a:t>
            </a:r>
            <a:r>
              <a:rPr sz="1100" b="0" i="0">
                <a:solidFill>
                  <a:srgbClr val="F5EFEF"/>
                </a:solidFill>
                <a:latin typeface="Trebuchet MS"/>
              </a:rPr>
              <a:t> — it happens to sit near all four knees' individual optima at once.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150" b="1" i="0">
                <a:solidFill>
                  <a:srgbClr val="FFD25E"/>
                </a:solidFill>
                <a:latin typeface="Trebuchet MS"/>
              </a:rPr>
              <a:t>0 wrong-sign cells in 360 checked</a:t>
            </a:r>
            <a:r>
              <a:rPr sz="1150" b="0" i="0">
                <a:solidFill>
                  <a:srgbClr val="FFD25E"/>
                </a:solidFill>
                <a:latin typeface="Trebuchet MS"/>
              </a:rPr>
              <a:t>, versus 50 of 440 before mirroring.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D25E"/>
                </a:solidFill>
                <a:latin typeface="Trebuchet MS"/>
              </a:rPr>
              <a:t>▸  </a:t>
            </a:r>
            <a:r>
              <a:rPr sz="1100" b="0" i="0">
                <a:solidFill>
                  <a:srgbClr val="F5EFEF"/>
                </a:solidFill>
                <a:latin typeface="Trebuchet MS"/>
              </a:rPr>
              <a:t>FL is consistently the weakest knee and BL the strongest. That is not a mirroring failure — the four legs have genuinely different measured holding torques (0.246 → 0.264 N·m) and stance angles. Only per-knee stiffness would remove the last point of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Cost of Transport — Three Definitions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05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F"/>
                </a:solidFill>
                <a:latin typeface="Trebuchet MS"/>
              </a:rPr>
              <a:t>CoT = E / (m·g·d),  m = 1.398 kg, g = 9.8 m/s², all 12 joints. The three variants differ only in how the energy E is counted.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9 /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650" y="1362456"/>
            <a:ext cx="9364114" cy="3438144"/>
          </a:xfrm>
          <a:prstGeom prst="roundRect">
            <a:avLst>
              <a:gd name="adj" fmla="val 35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2b_co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658" y="1426464"/>
            <a:ext cx="9236098" cy="3310128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5010912"/>
          <a:ext cx="6720836" cy="128016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208947"/>
                <a:gridCol w="798980"/>
                <a:gridCol w="939977"/>
                <a:gridCol w="892978"/>
                <a:gridCol w="798980"/>
                <a:gridCol w="1080974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Energy definition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Baseline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Best cell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Best value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Change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r vs torque red.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Mechanical   Σ|τ·dθ|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2.7149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0.25 / ±15°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2.3012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−15.2%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−0.787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Positive work   Σmax(0, τ·dθ)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2.1830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0.25 / ±15°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1.8178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−16.7%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−0.366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Electrical proxy   ∫τ²dt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0.8779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0.20 / ±15°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0.5734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−34.7%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−0.986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360920" y="5010912"/>
            <a:ext cx="4261104" cy="1280160"/>
          </a:xfrm>
          <a:prstGeom prst="roundRect">
            <a:avLst>
              <a:gd name="adj" fmla="val 5500"/>
            </a:avLst>
          </a:pr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1231" y="512064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EFEF"/>
                </a:solidFill>
                <a:latin typeface="Trebuchet MS"/>
              </a:rPr>
              <a:t>A motor holding a static load burns current but does zero mechanical work. The spring's whole job is to cancel static holding torque — so </a:t>
            </a:r>
            <a:r>
              <a:rPr sz="1000" b="1" i="0">
                <a:solidFill>
                  <a:srgbClr val="F5EFEF"/>
                </a:solidFill>
                <a:latin typeface="Trebuchet MS"/>
              </a:rPr>
              <a:t>mechanical CoT is measuring the wrong thing</a:t>
            </a:r>
            <a:r>
              <a:rPr sz="1000" b="0" i="0">
                <a:solidFill>
                  <a:srgbClr val="F5EFEF"/>
                </a:solidFill>
                <a:latin typeface="Trebuchet MS"/>
              </a:rPr>
              <a:t> and understates the benefit ~5×. The I²R proxy tracks the torque saving at r = −0.986.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Metric by Metric — What Moves, What Doesn't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05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F"/>
                </a:solidFill>
                <a:latin typeface="Trebuchet MS"/>
              </a:rPr>
              <a:t>Left: baseline vs the torque-optimal cell, with each metric's correlation to torque reduction across all 90 cells.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10 / 13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1426464"/>
          <a:ext cx="5989317" cy="292608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787856"/>
                <a:gridCol w="759839"/>
                <a:gridCol w="1028017"/>
                <a:gridCol w="804535"/>
                <a:gridCol w="715142"/>
                <a:gridCol w="893928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Metric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Baseline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At optimum
(0.15, ±35°)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Change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r vs red.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Independent?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Mean knee effort (N·m)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0.2352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0.1543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−34.4%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headline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RMS effort (N·m)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0.2863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0.2126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−25.7%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−0.996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collinear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p99 demand (N·m)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0.9311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0.8745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−6.1%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−0.852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partly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Peak demand (N·m)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0.9831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0.9502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−3.3%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partly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Torque variance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0.0266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0.0214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−19.5%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−0.596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partly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Saturation (%)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0.69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0.75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+0.06 pts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−0.457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yes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Mean tracking error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4.299°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3.395°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−21.0%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−0.996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collinear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Forward displacement (m)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0.3256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0.3297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+1.3%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+0.192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yes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66928" y="4645152"/>
            <a:ext cx="5989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FFD25E"/>
                </a:solidFill>
                <a:latin typeface="Trebuchet MS"/>
              </a:rPr>
              <a:t>▸  </a:t>
            </a:r>
            <a:r>
              <a:rPr sz="1050" b="0" i="0">
                <a:solidFill>
                  <a:srgbClr val="F5EFEF"/>
                </a:solidFill>
                <a:latin typeface="Trebuchet MS"/>
              </a:rPr>
              <a:t>RMS falls less than mean (−25.7% vs −34.4%): the spring removes the DC gravity bias, not the AC dynamic component. The continuous thermal benefit is real but smaller than the headline.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4CBD6"/>
                </a:solidFill>
                <a:latin typeface="Trebuchet MS"/>
              </a:rPr>
              <a:t>▸  </a:t>
            </a:r>
            <a:r>
              <a:rPr sz="1050" b="0" i="0">
                <a:solidFill>
                  <a:srgbClr val="FFD25E"/>
                </a:solidFill>
                <a:latin typeface="Trebuchet MS"/>
              </a:rPr>
              <a:t>Tracking error is collinear at r = −0.996 — it restates the effort result and </a:t>
            </a:r>
            <a:r>
              <a:rPr sz="1050" b="1" i="0">
                <a:solidFill>
                  <a:srgbClr val="FFD25E"/>
                </a:solidFill>
                <a:latin typeface="Trebuchet MS"/>
              </a:rPr>
              <a:t>cannot</a:t>
            </a:r>
            <a:r>
              <a:rPr sz="1050" b="0" i="0">
                <a:solidFill>
                  <a:srgbClr val="FFD25E"/>
                </a:solidFill>
                <a:latin typeface="Trebuchet MS"/>
              </a:rPr>
              <a:t> be used as independent evidence that gait quality survived. Saturation and displacement are the only genuinely independent checks, and both stay healthy.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4848" y="1426464"/>
            <a:ext cx="4837176" cy="4709160"/>
          </a:xfrm>
          <a:prstGeom prst="roundRect">
            <a:avLst>
              <a:gd name="adj" fmla="val 5000"/>
            </a:avLst>
          </a:pr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1609344"/>
            <a:ext cx="4389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D25E"/>
                </a:solidFill>
                <a:latin typeface="Trebuchet MS"/>
              </a:rPr>
              <a:t>RECOMMENDED CONFIGURATION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EFEF"/>
                </a:solidFill>
                <a:latin typeface="Georgia"/>
              </a:rPr>
              <a:t>kx = 0.20 N·m/rad,  |θ₀| = ±15°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022592" y="2286000"/>
          <a:ext cx="4389118" cy="309981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582124"/>
                <a:gridCol w="1275906"/>
                <a:gridCol w="1531088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Property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Value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5EFEF"/>
                          </a:solidFill>
                          <a:latin typeface="Trebuchet MS"/>
                        </a:rPr>
                        <a:t>Rank of 90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Electrical CoT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0.5734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#1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RMS effort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0.2121 N·m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#1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Per-knee spread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1.1 pts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#1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Actuator saturation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0.31%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15–24 of 90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Torque reduction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34.12%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0.27 pts off #1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p99 demand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0.8636 N·m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8% under rating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Mechanical CoT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2.4826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−8.6% vs base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Tracking error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3.54°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−17.6%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Displacement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0.3309 m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at grid mean</a:t>
                      </a:r>
                    </a:p>
                  </a:txBody>
                  <a:tcPr marL="50292" marR="50292" marT="12801" marB="12801" anchor="ctr">
                    <a:solidFill>
                      <a:srgbClr val="DDE5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022592" y="5486400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5EFEF"/>
                </a:solidFill>
                <a:latin typeface="Trebuchet MS"/>
              </a:rPr>
              <a:t>Not the winner on torque reduction — but </a:t>
            </a:r>
            <a:r>
              <a:rPr sz="1000" b="1" i="1">
                <a:solidFill>
                  <a:srgbClr val="F5EFEF"/>
                </a:solidFill>
                <a:latin typeface="Trebuchet MS"/>
              </a:rPr>
              <a:t>#1 of 90</a:t>
            </a:r>
            <a:r>
              <a:rPr sz="1000" b="0" i="1">
                <a:solidFill>
                  <a:srgbClr val="F5EFEF"/>
                </a:solidFill>
                <a:latin typeface="Trebuchet MS"/>
              </a:rPr>
              <a:t> on electrical cost, RMS effort and bilateral symmetry.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Speed Lever 1 — Replay Frequency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05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F"/>
                </a:solidFill>
                <a:latin typeface="Trebuchet MS"/>
              </a:rPr>
              <a:t>The same 16 waypoints, played faster or slower. Per-step jump is 2.989° in all three runs — so only speed changed.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11 /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01287" y="1362456"/>
            <a:ext cx="8186377" cy="2798064"/>
          </a:xfrm>
          <a:prstGeom prst="roundRect">
            <a:avLst>
              <a:gd name="adj" fmla="val 35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3a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295" y="1426464"/>
            <a:ext cx="8058361" cy="2670048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4352544"/>
          <a:ext cx="11055091" cy="1298447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09965"/>
                <a:gridCol w="1073310"/>
                <a:gridCol w="1556299"/>
                <a:gridCol w="1556299"/>
                <a:gridCol w="1556299"/>
                <a:gridCol w="1448968"/>
                <a:gridCol w="2253951"/>
              </a:tblGrid>
              <a:tr h="35204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5EFEF"/>
                          </a:solidFill>
                          <a:latin typeface="Trebuchet MS"/>
                        </a:rPr>
                        <a:t>target_freq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5EFEF"/>
                          </a:solidFill>
                          <a:latin typeface="Trebuchet MS"/>
                        </a:rPr>
                        <a:t>Cycle time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5EFEF"/>
                          </a:solidFill>
                          <a:latin typeface="Trebuchet MS"/>
                        </a:rPr>
                        <a:t>Mean effort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5EFEF"/>
                          </a:solidFill>
                          <a:latin typeface="Trebuchet MS"/>
                        </a:rPr>
                        <a:t>RMS effort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5EFEF"/>
                          </a:solidFill>
                          <a:latin typeface="Trebuchet MS"/>
                        </a:rPr>
                        <a:t>Peak demand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5EFEF"/>
                          </a:solidFill>
                          <a:latin typeface="Trebuchet MS"/>
                        </a:rPr>
                        <a:t>Saturation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5EFEF"/>
                          </a:solidFill>
                          <a:latin typeface="Trebuchet MS"/>
                        </a:rPr>
                        <a:t>Tracking err (mean/RMS/peak)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5 Hz  (slower)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3.2 s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0.2101  (−8.3%)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0.2535  (−9.6%)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0.953  (−1.9%)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0.19%  (¼×)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10666"/>
                          </a:solidFill>
                          <a:latin typeface="Trebuchet MS"/>
                        </a:rPr>
                        <a:t>3.76° / 6.58° / 21.0°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10 Hz  (baseline)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1.6 s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0.2292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0.2804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0.972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0.75%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4.11° / 6.81° / 20.8°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20 Hz  (faster)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0.8 s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0.2424  (+5.8%)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0.3265  (+16.5%)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1.235  (+27.1%)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6255C"/>
                          </a:solidFill>
                          <a:latin typeface="Trebuchet MS"/>
                        </a:rPr>
                        <a:t>4.88%  (6.5×)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6255C"/>
                          </a:solidFill>
                          <a:latin typeface="Trebuchet MS"/>
                        </a:rPr>
                        <a:t>4.19° / 6.92° / 21.2°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" y="5669280"/>
            <a:ext cx="1105509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D25E"/>
                </a:solidFill>
                <a:latin typeface="Trebuchet MS"/>
              </a:rPr>
              <a:t>▸  </a:t>
            </a:r>
            <a:r>
              <a:rPr sz="1100" b="0" i="0">
                <a:solidFill>
                  <a:srgbClr val="F5EFEF"/>
                </a:solidFill>
                <a:latin typeface="Trebuchet MS"/>
              </a:rPr>
              <a:t>Speeding up is expensive at the </a:t>
            </a:r>
            <a:r>
              <a:rPr sz="1100" b="1" i="0">
                <a:solidFill>
                  <a:srgbClr val="F5EFEF"/>
                </a:solidFill>
                <a:latin typeface="Trebuchet MS"/>
              </a:rPr>
              <a:t>peak</a:t>
            </a:r>
            <a:r>
              <a:rPr sz="1100" b="0" i="0">
                <a:solidFill>
                  <a:srgbClr val="F5EFEF"/>
                </a:solidFill>
                <a:latin typeface="Trebuchet MS"/>
              </a:rPr>
              <a:t>, not at the mean: the same 2.989° jump in half the time makes the D-term react harder. Mean effort barely moves because it is set by the unchanged stance holding torque.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Speed Lever 2 — Trajectory Resolution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005840"/>
            <a:ext cx="11055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DE5FF"/>
                </a:solidFill>
                <a:latin typeface="Trebuchet MS"/>
              </a:rPr>
              <a:t>Sampling the same Bézier swing arc with more or fewer waypoints, at a fixed 10 Hz. This is the lever that actually fixes peak torque.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12 /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57530" y="1362456"/>
            <a:ext cx="8673890" cy="2761488"/>
          </a:xfrm>
          <a:prstGeom prst="roundRect">
            <a:avLst>
              <a:gd name="adj" fmla="val 35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3b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538" y="1426464"/>
            <a:ext cx="8545874" cy="2633472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4297679"/>
          <a:ext cx="6949435" cy="1298447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365225"/>
                <a:gridCol w="616553"/>
                <a:gridCol w="880790"/>
                <a:gridCol w="748672"/>
                <a:gridCol w="1277146"/>
                <a:gridCol w="581321"/>
                <a:gridCol w="731056"/>
                <a:gridCol w="748672"/>
              </a:tblGrid>
              <a:tr h="35204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NUM_DATA_POINTS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Cycle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Mean effort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RMS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Peak demand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Sat.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Track err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5EFEF"/>
                          </a:solidFill>
                          <a:latin typeface="Trebuchet MS"/>
                        </a:rPr>
                        <a:t>Step jump</a:t>
                      </a:r>
                    </a:p>
                  </a:txBody>
                  <a:tcPr marL="50292" marR="50292" marT="12801" marB="12801" anchor="ctr">
                    <a:solidFill>
                      <a:srgbClr val="1E396E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8   ⚠ degenerate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0.8 s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0.1749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0.2090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0.689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0.00%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1.00°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0.483°</a:t>
                      </a:r>
                    </a:p>
                  </a:txBody>
                  <a:tcPr marL="50292" marR="50292" marT="12801" marB="12801" anchor="ctr">
                    <a:solidFill>
                      <a:srgbClr val="F2C8C0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16   (baseline)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1.6 s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0.2246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0.2756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0.965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0.63%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4.05°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55C"/>
                          </a:solidFill>
                          <a:latin typeface="Trebuchet MS"/>
                        </a:rPr>
                        <a:t>2.989°</a:t>
                      </a:r>
                    </a:p>
                  </a:txBody>
                  <a:tcPr marL="50292" marR="50292" marT="12801" marB="12801" anchor="ctr">
                    <a:solidFill>
                      <a:srgbClr val="EDF1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10666"/>
                          </a:solidFill>
                          <a:latin typeface="Trebuchet MS"/>
                        </a:rPr>
                        <a:t>32   (finer)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10666"/>
                          </a:solidFill>
                          <a:latin typeface="Trebuchet MS"/>
                        </a:rPr>
                        <a:t>3.2 s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10666"/>
                          </a:solidFill>
                          <a:latin typeface="Trebuchet MS"/>
                        </a:rPr>
                        <a:t>0.1994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10666"/>
                          </a:solidFill>
                          <a:latin typeface="Trebuchet MS"/>
                        </a:rPr>
                        <a:t>0.2419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10666"/>
                          </a:solidFill>
                          <a:latin typeface="Trebuchet MS"/>
                        </a:rPr>
                        <a:t>0.495  (−48.7%)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10666"/>
                          </a:solidFill>
                          <a:latin typeface="Trebuchet MS"/>
                        </a:rPr>
                        <a:t>0.00%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10666"/>
                          </a:solidFill>
                          <a:latin typeface="Trebuchet MS"/>
                        </a:rPr>
                        <a:t>2.92°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10666"/>
                          </a:solidFill>
                          <a:latin typeface="Trebuchet MS"/>
                        </a:rPr>
                        <a:t>1.610°</a:t>
                      </a:r>
                    </a:p>
                  </a:txBody>
                  <a:tcPr marL="50292" marR="50292" marT="12801" marB="12801" anchor="ctr">
                    <a:solidFill>
                      <a:srgbClr val="FFD25E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" y="5705855"/>
            <a:ext cx="6949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4CBD6"/>
                </a:solidFill>
                <a:latin typeface="Trebuchet MS"/>
              </a:rPr>
              <a:t>⚠  </a:t>
            </a:r>
            <a:r>
              <a:rPr sz="1050" b="1" i="0">
                <a:solidFill>
                  <a:srgbClr val="FFD25E"/>
                </a:solidFill>
                <a:latin typeface="Trebuchet MS"/>
              </a:rPr>
              <a:t>The N = 8 trap.</a:t>
            </a:r>
            <a:r>
              <a:rPr sz="1050" b="0" i="0">
                <a:solidFill>
                  <a:srgbClr val="FFD25E"/>
                </a:solidFill>
                <a:latin typeface="Trebuchet MS"/>
              </a:rPr>
              <a:t>  n_swing = int(8 × 0.25) = 2, so linspace samples only t = 0 and t = 1 — both already at stance height. The foot never lifts; it slides. Its "better" numbers are a drag, not a step. Hard cliff: any lift needs 3 swing samples, i.e. </a:t>
            </a:r>
            <a:r>
              <a:rPr sz="1050" b="1" i="0">
                <a:solidFill>
                  <a:srgbClr val="FFD25E"/>
                </a:solidFill>
                <a:latin typeface="Trebuchet MS"/>
              </a:rPr>
              <a:t>N ≥ 12</a:t>
            </a:r>
            <a:r>
              <a:rPr sz="1050" b="0" i="0">
                <a:solidFill>
                  <a:srgbClr val="FFD25E"/>
                </a:solidFill>
                <a:latin typeface="Trebuchet MS"/>
              </a:rPr>
              <a:t>. Excluded from all conclusions.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8" y="4297679"/>
            <a:ext cx="3922776" cy="1874519"/>
          </a:xfrm>
          <a:prstGeom prst="roundRect">
            <a:avLst>
              <a:gd name="adj" fmla="val 4500"/>
            </a:avLst>
          </a:pr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4443983"/>
            <a:ext cx="3520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FFD25E"/>
                </a:solidFill>
                <a:latin typeface="Trebuchet MS"/>
              </a:rPr>
              <a:t>MATCHED AT ≈3.2 s CYCLE 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F5EFEF"/>
                </a:solidFill>
                <a:latin typeface="Trebuchet MS"/>
              </a:rPr>
              <a:t>5 Hz replay → peak demand </a:t>
            </a:r>
            <a:r>
              <a:rPr sz="1050" b="1" i="0">
                <a:solidFill>
                  <a:srgbClr val="F5EFEF"/>
                </a:solidFill>
                <a:latin typeface="Trebuchet MS"/>
              </a:rPr>
              <a:t>0.953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F5EFEF"/>
                </a:solidFill>
                <a:latin typeface="Trebuchet MS"/>
              </a:rPr>
              <a:t>32 waypoints → peak demand </a:t>
            </a:r>
            <a:r>
              <a:rPr sz="1050" b="1" i="0">
                <a:solidFill>
                  <a:srgbClr val="F5EFEF"/>
                </a:solidFill>
                <a:latin typeface="Trebuchet MS"/>
              </a:rPr>
              <a:t>0.495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EFEF"/>
                </a:solidFill>
                <a:latin typeface="Trebuchet MS"/>
              </a:rPr>
              <a:t>At the same cycle time, finer sampling halves peak torque where slower replay does nothing. Slowing down gives the controller more time to chase the same discontinuity; finer sampling shrinks the discontinuity itself.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0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0292" y="1572768"/>
            <a:ext cx="338328" cy="1243584"/>
          </a:xfrm>
          <a:custGeom>
            <a:avLst/>
            <a:gdLst/>
            <a:ahLst/>
            <a:cxnLst/>
            <a:rect l="l" t="t" r="r" b="b"/>
            <a:pathLst>
              <a:path w="338328" h="1243584">
                <a:moveTo>
                  <a:pt x="100584" y="0"/>
                </a:moveTo>
                <a:lnTo>
                  <a:pt x="338328" y="310896"/>
                </a:lnTo>
                <a:lnTo>
                  <a:pt x="100584" y="621792"/>
                </a:lnTo>
                <a:lnTo>
                  <a:pt x="338328" y="932688"/>
                </a:lnTo>
                <a:lnTo>
                  <a:pt x="100584" y="1243584"/>
                </a:lnTo>
                <a:lnTo>
                  <a:pt x="0" y="1243584"/>
                </a:lnTo>
                <a:lnTo>
                  <a:pt x="237744" y="932688"/>
                </a:lnTo>
                <a:lnTo>
                  <a:pt x="0" y="621792"/>
                </a:lnTo>
                <a:lnTo>
                  <a:pt x="237744" y="310896"/>
                </a:lnTo>
                <a:lnTo>
                  <a:pt x="0" y="0"/>
                </a:lnTo>
                <a:close/>
              </a:path>
            </a:pathLst>
          </a:cu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900000">
            <a:off x="18288" y="6547104"/>
            <a:ext cx="1481328" cy="96012"/>
          </a:xfrm>
          <a:prstGeom prst="rect">
            <a:avLst/>
          </a:prstGeom>
          <a:solidFill>
            <a:srgbClr val="6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900000">
            <a:off x="133502" y="6662318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900000">
            <a:off x="248716" y="6777532"/>
            <a:ext cx="1481328" cy="96012"/>
          </a:xfrm>
          <a:prstGeom prst="rect">
            <a:avLst/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900000">
            <a:off x="363931" y="6892747"/>
            <a:ext cx="1481328" cy="96012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11667744" y="274320"/>
            <a:ext cx="365760" cy="365760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4-Point Star 8"/>
          <p:cNvSpPr/>
          <p:nvPr/>
        </p:nvSpPr>
        <p:spPr>
          <a:xfrm>
            <a:off x="118872" y="6035040"/>
            <a:ext cx="256032" cy="256032"/>
          </a:xfrm>
          <a:prstGeom prst="star4">
            <a:avLst>
              <a:gd name="adj" fmla="val 10000"/>
            </a:avLst>
          </a:prstGeom>
          <a:solidFill>
            <a:srgbClr val="F5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7744"/>
            <a:ext cx="1073505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EFEF"/>
                </a:solidFill>
                <a:latin typeface="Georgia"/>
              </a:rPr>
              <a:t>Where We Stand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905256"/>
            <a:ext cx="1600200" cy="41148"/>
          </a:xfrm>
          <a:prstGeom prst="rect">
            <a:avLst/>
          </a:prstGeom>
          <a:solidFill>
            <a:srgbClr val="FFD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5784" y="64282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EB0DB"/>
                </a:solidFill>
                <a:latin typeface="Trebuchet MS"/>
              </a:rPr>
              <a:t>STRP Check-In 2  ·  Simulation &amp; Results  ·  13 / 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133856"/>
            <a:ext cx="5532120" cy="2706624"/>
          </a:xfrm>
          <a:prstGeom prst="roundRect">
            <a:avLst>
              <a:gd name="adj" fmla="val 5000"/>
            </a:avLst>
          </a:prstGeom>
          <a:solidFill>
            <a:srgbClr val="DD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1316736"/>
            <a:ext cx="5074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110666"/>
                </a:solidFill>
                <a:latin typeface="Trebuchet MS"/>
              </a:rPr>
              <a:t>SUPPORTABLE CLAIMS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4CBD6"/>
                </a:solidFill>
                <a:latin typeface="Trebuchet MS"/>
              </a:rPr>
              <a:t>✓  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A mirrored parallel knee spring removes </a:t>
            </a:r>
            <a:r>
              <a:rPr sz="1000" b="1" i="0">
                <a:solidFill>
                  <a:srgbClr val="16255C"/>
                </a:solidFill>
                <a:latin typeface="Trebuchet MS"/>
              </a:rPr>
              <a:t>~34% of mean knee motor torque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 and ~26% of RMS effort — 91 runs, combined across four knees.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4CBD6"/>
                </a:solidFill>
                <a:latin typeface="Trebuchet MS"/>
              </a:rPr>
              <a:t>✓  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Electrical (copper-loss) cost of transport falls </a:t>
            </a:r>
            <a:r>
              <a:rPr sz="1000" b="1" i="0">
                <a:solidFill>
                  <a:srgbClr val="16255C"/>
                </a:solidFill>
                <a:latin typeface="Trebuchet MS"/>
              </a:rPr>
              <a:t>~35%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, 0.878 → 0.573.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4CBD6"/>
                </a:solidFill>
                <a:latin typeface="Trebuchet MS"/>
              </a:rPr>
              <a:t>✓  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Mirroring gives </a:t>
            </a:r>
            <a:r>
              <a:rPr sz="1000" b="1" i="0">
                <a:solidFill>
                  <a:srgbClr val="16255C"/>
                </a:solidFill>
                <a:latin typeface="Trebuchet MS"/>
              </a:rPr>
              <a:t>0 wrong-sign cells in 360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 (was 50/440) and cuts bilateral asymmetry from 3.96 to </a:t>
            </a:r>
            <a:r>
              <a:rPr sz="1000" b="1" i="0">
                <a:solidFill>
                  <a:srgbClr val="16255C"/>
                </a:solidFill>
                <a:latin typeface="Trebuchet MS"/>
              </a:rPr>
              <a:t>1.15 points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4CBD6"/>
                </a:solidFill>
                <a:latin typeface="Trebuchet MS"/>
              </a:rPr>
              <a:t>✓  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The design has </a:t>
            </a:r>
            <a:r>
              <a:rPr sz="1000" b="1" i="0">
                <a:solidFill>
                  <a:srgbClr val="16255C"/>
                </a:solidFill>
                <a:latin typeface="Trebuchet MS"/>
              </a:rPr>
              <a:t>one effective DOF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 — a locus of (kx, θ₀) all deliver ~34%.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4CBD6"/>
                </a:solidFill>
                <a:latin typeface="Trebuchet MS"/>
              </a:rPr>
              <a:t>✓  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Finer trajectory sampling cuts peak demand </a:t>
            </a:r>
            <a:r>
              <a:rPr sz="1000" b="1" i="0">
                <a:solidFill>
                  <a:srgbClr val="16255C"/>
                </a:solidFill>
                <a:latin typeface="Trebuchet MS"/>
              </a:rPr>
              <a:t>−49%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, independent of the spring.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133856"/>
            <a:ext cx="5294376" cy="2706624"/>
          </a:xfrm>
          <a:prstGeom prst="roundRect">
            <a:avLst>
              <a:gd name="adj" fmla="val 5000"/>
            </a:avLst>
          </a:prstGeom>
          <a:solidFill>
            <a:srgbClr val="DD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316736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110666"/>
                </a:solidFill>
                <a:latin typeface="Trebuchet MS"/>
              </a:rPr>
              <a:t>WHAT WE DO NOT CLAIM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4CBD6"/>
                </a:solidFill>
                <a:latin typeface="Trebuchet MS"/>
              </a:rPr>
              <a:t>✗  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Mechanical work does </a:t>
            </a:r>
            <a:r>
              <a:rPr sz="1000" b="1" i="0">
                <a:solidFill>
                  <a:srgbClr val="16255C"/>
                </a:solidFill>
                <a:latin typeface="Trebuchet MS"/>
              </a:rPr>
              <a:t>not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 drop in proportion to torque — only 6.2% against 34.4%. Any efficiency claim from mechanical CoT alone understates this device ~5×.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4CBD6"/>
                </a:solidFill>
                <a:latin typeface="Trebuchet MS"/>
              </a:rPr>
              <a:t>✗  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Electrical CoT </a:t>
            </a:r>
            <a:r>
              <a:rPr sz="1000" b="1" i="0">
                <a:solidFill>
                  <a:srgbClr val="16255C"/>
                </a:solidFill>
                <a:latin typeface="Trebuchet MS"/>
              </a:rPr>
              <a:t>in joules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 — the proxy needs the servo's kt and R first.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4CBD6"/>
                </a:solidFill>
                <a:latin typeface="Trebuchet MS"/>
              </a:rPr>
              <a:t>✗  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Tracking error as independent proof of gait quality — collinear at r = −0.996.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4CBD6"/>
                </a:solidFill>
                <a:latin typeface="Trebuchet MS"/>
              </a:rPr>
              <a:t>✗  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A smaller motor. Peak demand is control-limited, not spring-limited: baseline p99 is 0.931 N·m against a 0.941 N·m rating, and no spring setting fixes that.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64CBD6"/>
                </a:solidFill>
                <a:latin typeface="Trebuchet MS"/>
              </a:rPr>
              <a:t>✗  </a:t>
            </a:r>
            <a:r>
              <a:rPr sz="1000" b="0" i="0">
                <a:solidFill>
                  <a:srgbClr val="16255C"/>
                </a:solidFill>
                <a:latin typeface="Trebuchet MS"/>
              </a:rPr>
              <a:t>n = 1 per cell — differences under ~1 point are not statistically separable.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41648"/>
            <a:ext cx="11055096" cy="2249424"/>
          </a:xfrm>
          <a:prstGeom prst="roundRect">
            <a:avLst>
              <a:gd name="adj" fmla="val 5500"/>
            </a:avLst>
          </a:prstGeom>
          <a:solidFill>
            <a:srgbClr val="718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24528"/>
            <a:ext cx="48920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D25E"/>
                </a:solidFill>
                <a:latin typeface="Trebuchet MS"/>
              </a:rPr>
              <a:t>LITERATURE CONTEXT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F5EFEF"/>
                </a:solidFill>
                <a:latin typeface="Trebuchet MS"/>
              </a:rPr>
              <a:t>Published passive-compliance savings span </a:t>
            </a:r>
            <a:r>
              <a:rPr sz="1000" b="1" i="0">
                <a:solidFill>
                  <a:srgbClr val="F5EFEF"/>
                </a:solidFill>
                <a:latin typeface="Trebuchet MS"/>
              </a:rPr>
              <a:t>17–50%</a:t>
            </a:r>
            <a:r>
              <a:rPr sz="1000" b="0" i="0">
                <a:solidFill>
                  <a:srgbClr val="F5EFEF"/>
                </a:solidFill>
                <a:latin typeface="Trebuchet MS"/>
              </a:rPr>
              <a:t>: compliant feet ~17%, hexapod gait + torque optimisation 22–39%, nonlinear elastic joints up to 50%, trajectory-optimised biped coupling &gt;50%.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EFEF"/>
                </a:solidFill>
                <a:latin typeface="Trebuchet MS"/>
              </a:rPr>
              <a:t>Our ~34% sits solidly in that range using the simplest possible hardware — a fixed linear spring, no clutch, no adaptive mechanism.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224528"/>
            <a:ext cx="54406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D25E"/>
                </a:solidFill>
                <a:latin typeface="Trebuchet MS"/>
              </a:rPr>
              <a:t>NEXT STEPS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D25E"/>
                </a:solidFill>
                <a:latin typeface="Trebuchet MS"/>
              </a:rPr>
              <a:t>→  </a:t>
            </a:r>
            <a:r>
              <a:rPr sz="1000" b="0" i="0">
                <a:solidFill>
                  <a:srgbClr val="F5EFEF"/>
                </a:solidFill>
                <a:latin typeface="Trebuchet MS"/>
              </a:rPr>
              <a:t>Three repeats at the ridge to make sub-1-point differences separable.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D25E"/>
                </a:solidFill>
                <a:latin typeface="Trebuchet MS"/>
              </a:rPr>
              <a:t>→  </a:t>
            </a:r>
            <a:r>
              <a:rPr sz="1000" b="0" i="0">
                <a:solidFill>
                  <a:srgbClr val="F5EFEF"/>
                </a:solidFill>
                <a:latin typeface="Trebuchet MS"/>
              </a:rPr>
              <a:t>Extend the grid to |θ₀| &gt; 45° at low stiffness — the ridge exits the box there.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D25E"/>
                </a:solidFill>
                <a:latin typeface="Trebuchet MS"/>
              </a:rPr>
              <a:t>→  </a:t>
            </a:r>
            <a:r>
              <a:rPr sz="1000" b="0" i="0">
                <a:solidFill>
                  <a:srgbClr val="F5EFEF"/>
                </a:solidFill>
                <a:latin typeface="Trebuchet MS"/>
              </a:rPr>
              <a:t>Raise NUM_DATA_POINTS 16 → 80 to remove the 10 Hz step discontinuity, then re-measure peak torque.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D25E"/>
                </a:solidFill>
                <a:latin typeface="Trebuchet MS"/>
              </a:rPr>
              <a:t>→  </a:t>
            </a:r>
            <a:r>
              <a:rPr sz="1000" b="0" i="0">
                <a:solidFill>
                  <a:srgbClr val="F5EFEF"/>
                </a:solidFill>
                <a:latin typeface="Trebuchet MS"/>
              </a:rPr>
              <a:t>Add an explicit fall / body-tilt gate instead of inferring success from displacement.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D25E"/>
                </a:solidFill>
                <a:latin typeface="Trebuchet MS"/>
              </a:rPr>
              <a:t>→  </a:t>
            </a:r>
            <a:r>
              <a:rPr sz="1000" b="0" i="0">
                <a:solidFill>
                  <a:srgbClr val="F5EFEF"/>
                </a:solidFill>
                <a:latin typeface="Trebuchet MS"/>
              </a:rPr>
              <a:t>Get kt and R from the servo datasheet to convert the electrical proxy to joules.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